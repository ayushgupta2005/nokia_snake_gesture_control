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</p:sldIdLst>
  <p:sldSz cx="14630400" cy="82296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1pPr>
    <a:lvl2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2pPr>
    <a:lvl3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3pPr>
    <a:lvl4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4pPr>
    <a:lvl5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5pPr>
    <a:lvl6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6pPr>
    <a:lvl7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7pPr>
    <a:lvl8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8pPr>
    <a:lvl9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DD4EA"/>
          </a:solidFill>
        </a:fill>
      </a:tcStyle>
    </a:wholeTbl>
    <a:band2H>
      <a:tcTxStyle b="def" i="def"/>
      <a:tcStyle>
        <a:tcBdr/>
        <a:fill>
          <a:solidFill>
            <a:srgbClr val="E8EBF5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E0E0E0"/>
          </a:solidFill>
        </a:fill>
      </a:tcStyle>
    </a:wholeTbl>
    <a:band2H>
      <a:tcTxStyle b="def" i="def"/>
      <a:tcStyle>
        <a:tcBdr/>
        <a:fill>
          <a:solidFill>
            <a:srgbClr val="F0F0F0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4E2CE"/>
          </a:solidFill>
        </a:fill>
      </a:tcStyle>
    </a:wholeTbl>
    <a:band2H>
      <a:tcTxStyle b="def" i="def"/>
      <a:tcStyle>
        <a:tcBdr/>
        <a:fill>
          <a:solidFill>
            <a:srgbClr val="EBF1E8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Shape 80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81" name="Shape 81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j-lt"/>
        <a:ea typeface="+mj-ea"/>
        <a:cs typeface="+mj-cs"/>
        <a:sym typeface="Calibri"/>
      </a:defRPr>
    </a:lvl1pPr>
    <a:lvl2pPr indent="228600" latinLnBrk="0">
      <a:defRPr sz="1200">
        <a:latin typeface="+mj-lt"/>
        <a:ea typeface="+mj-ea"/>
        <a:cs typeface="+mj-cs"/>
        <a:sym typeface="Calibri"/>
      </a:defRPr>
    </a:lvl2pPr>
    <a:lvl3pPr indent="457200" latinLnBrk="0">
      <a:defRPr sz="1200">
        <a:latin typeface="+mj-lt"/>
        <a:ea typeface="+mj-ea"/>
        <a:cs typeface="+mj-cs"/>
        <a:sym typeface="Calibri"/>
      </a:defRPr>
    </a:lvl3pPr>
    <a:lvl4pPr indent="685800" latinLnBrk="0">
      <a:defRPr sz="1200">
        <a:latin typeface="+mj-lt"/>
        <a:ea typeface="+mj-ea"/>
        <a:cs typeface="+mj-cs"/>
        <a:sym typeface="Calibri"/>
      </a:defRPr>
    </a:lvl4pPr>
    <a:lvl5pPr indent="914400" latinLnBrk="0">
      <a:defRPr sz="1200">
        <a:latin typeface="+mj-lt"/>
        <a:ea typeface="+mj-ea"/>
        <a:cs typeface="+mj-cs"/>
        <a:sym typeface="Calibri"/>
      </a:defRPr>
    </a:lvl5pPr>
    <a:lvl6pPr indent="1143000" latinLnBrk="0">
      <a:defRPr sz="1200">
        <a:latin typeface="+mj-lt"/>
        <a:ea typeface="+mj-ea"/>
        <a:cs typeface="+mj-cs"/>
        <a:sym typeface="Calibri"/>
      </a:defRPr>
    </a:lvl6pPr>
    <a:lvl7pPr indent="1371600" latinLnBrk="0">
      <a:defRPr sz="1200">
        <a:latin typeface="+mj-lt"/>
        <a:ea typeface="+mj-ea"/>
        <a:cs typeface="+mj-cs"/>
        <a:sym typeface="Calibri"/>
      </a:defRPr>
    </a:lvl7pPr>
    <a:lvl8pPr indent="1600200" latinLnBrk="0">
      <a:defRPr sz="1200">
        <a:latin typeface="+mj-lt"/>
        <a:ea typeface="+mj-ea"/>
        <a:cs typeface="+mj-cs"/>
        <a:sym typeface="Calibri"/>
      </a:defRPr>
    </a:lvl8pPr>
    <a:lvl9pPr indent="1828800" latinLnBrk="0">
      <a:defRPr sz="1200">
        <a:latin typeface="+mj-lt"/>
        <a:ea typeface="+mj-ea"/>
        <a:cs typeface="+mj-cs"/>
        <a:sym typeface="Calibri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lide 1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0FF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9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AFF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lide 2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0FF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8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AFF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9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lide 3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0FF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7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AFF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lide 4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0FF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46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AFF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47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lide 5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0FF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55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AFF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56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lide 6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0FF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64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AFF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6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lide 7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0FF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7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AFF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7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/>
          <p:nvPr>
            <p:ph type="title"/>
          </p:nvPr>
        </p:nvSpPr>
        <p:spPr>
          <a:xfrm>
            <a:off x="731520" y="110489"/>
            <a:ext cx="13167361" cy="18097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/>
          <a:lstStyle/>
          <a:p>
            <a:pPr/>
            <a:r>
              <a:t>Title Text</a:t>
            </a:r>
          </a:p>
        </p:txBody>
      </p:sp>
      <p:sp>
        <p:nvSpPr>
          <p:cNvPr id="3" name="Body Level One…"/>
          <p:cNvSpPr txBox="1"/>
          <p:nvPr>
            <p:ph type="body" idx="1"/>
          </p:nvPr>
        </p:nvSpPr>
        <p:spPr>
          <a:xfrm>
            <a:off x="731520" y="1920239"/>
            <a:ext cx="13167361" cy="63093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7071359" y="7408545"/>
            <a:ext cx="3413761" cy="438150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</p:sldLayoutIdLst>
  <p:transition xmlns:p14="http://schemas.microsoft.com/office/powerpoint/2010/main" spd="med" advClick="1"/>
  <p:txStyles>
    <p:titleStyle>
      <a:lvl1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1pPr>
      <a:lvl2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2pPr>
      <a:lvl3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3pPr>
      <a:lvl4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4pPr>
      <a:lvl5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5pPr>
      <a:lvl6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6pPr>
      <a:lvl7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7pPr>
      <a:lvl8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8pPr>
      <a:lvl9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9pPr>
    </p:titleStyle>
    <p:bodyStyle>
      <a:lvl1pPr marL="342900" marR="0" indent="-3429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1pPr>
      <a:lvl2pPr marL="783771" marR="0" indent="-326571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2pPr>
      <a:lvl3pPr marL="1219200" marR="0" indent="-3048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3pPr>
      <a:lvl4pPr marL="17373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4pPr>
      <a:lvl5pPr marL="21945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»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5pPr>
      <a:lvl6pPr marL="26517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6pPr>
      <a:lvl7pPr marL="31089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7pPr>
      <a:lvl8pPr marL="3566159" marR="0" indent="-365759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8pPr>
      <a:lvl9pPr marL="4023359" marR="0" indent="-365759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1pPr>
      <a:lvl2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2pPr>
      <a:lvl3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3pPr>
      <a:lvl4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4pPr>
      <a:lvl5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5pPr>
      <a:lvl6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6pPr>
      <a:lvl7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7pPr>
      <a:lvl8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8pPr>
      <a:lvl9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.png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.png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5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  <a:ln w="12700">
            <a:miter lim="400000"/>
          </a:ln>
        </p:spPr>
      </p:pic>
      <p:pic>
        <p:nvPicPr>
          <p:cNvPr id="84" name="Image 1" descr="Image 1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8468320" y="626150"/>
            <a:ext cx="3394415" cy="1378862"/>
          </a:xfrm>
          <a:prstGeom prst="rect">
            <a:avLst/>
          </a:prstGeom>
          <a:ln w="12700">
            <a:miter lim="400000"/>
          </a:ln>
        </p:spPr>
      </p:pic>
      <p:sp>
        <p:nvSpPr>
          <p:cNvPr id="85" name="Text 0"/>
          <p:cNvSpPr txBox="1"/>
          <p:nvPr/>
        </p:nvSpPr>
        <p:spPr>
          <a:xfrm>
            <a:off x="6244709" y="2242898"/>
            <a:ext cx="7627382" cy="8395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ts val="3300"/>
              </a:lnSpc>
              <a:defRPr b="1" sz="3100">
                <a:solidFill>
                  <a:srgbClr val="403CC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Gesture-Controlled Snake Game Using MediaPipe</a:t>
            </a:r>
          </a:p>
        </p:txBody>
      </p:sp>
      <p:sp>
        <p:nvSpPr>
          <p:cNvPr id="86" name="Text 1"/>
          <p:cNvSpPr txBox="1"/>
          <p:nvPr/>
        </p:nvSpPr>
        <p:spPr>
          <a:xfrm>
            <a:off x="7991524" y="3188287"/>
            <a:ext cx="4133752" cy="3559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lnSpc>
                <a:spcPts val="2800"/>
              </a:lnSpc>
              <a:defRPr b="1" sz="2600">
                <a:solidFill>
                  <a:srgbClr val="030303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School Of Computer Science </a:t>
            </a:r>
          </a:p>
        </p:txBody>
      </p:sp>
      <p:sp>
        <p:nvSpPr>
          <p:cNvPr id="87" name="Text 2"/>
          <p:cNvSpPr txBox="1"/>
          <p:nvPr/>
        </p:nvSpPr>
        <p:spPr>
          <a:xfrm>
            <a:off x="6244709" y="3865721"/>
            <a:ext cx="1608746" cy="3144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500"/>
              </a:lnSpc>
              <a:defRPr b="1" sz="2200">
                <a:solidFill>
                  <a:srgbClr val="030303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Prepared By:</a:t>
            </a:r>
          </a:p>
        </p:txBody>
      </p:sp>
      <p:sp>
        <p:nvSpPr>
          <p:cNvPr id="88" name="Text 3"/>
          <p:cNvSpPr txBox="1"/>
          <p:nvPr/>
        </p:nvSpPr>
        <p:spPr>
          <a:xfrm>
            <a:off x="6244709" y="4434482"/>
            <a:ext cx="6621910" cy="3089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/>
          <a:p>
            <a:pPr>
              <a:lnSpc>
                <a:spcPts val="2500"/>
              </a:lnSpc>
              <a:defRPr b="1" sz="2000">
                <a:solidFill>
                  <a:srgbClr val="030303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Ayush Gupta                SapId: 5</a:t>
            </a:r>
            <a:r>
              <a:rPr b="0"/>
              <a:t>00125537   </a:t>
            </a:r>
            <a:r>
              <a:t> Cource: </a:t>
            </a:r>
            <a:r>
              <a:rPr b="0"/>
              <a:t>Btech Cse</a:t>
            </a:r>
          </a:p>
        </p:txBody>
      </p:sp>
      <p:sp>
        <p:nvSpPr>
          <p:cNvPr id="89" name="Text 4"/>
          <p:cNvSpPr txBox="1"/>
          <p:nvPr/>
        </p:nvSpPr>
        <p:spPr>
          <a:xfrm>
            <a:off x="6222446" y="4963439"/>
            <a:ext cx="6602935" cy="3089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/>
          <a:p>
            <a:pPr>
              <a:lnSpc>
                <a:spcPts val="2500"/>
              </a:lnSpc>
              <a:defRPr b="1" sz="2000">
                <a:solidFill>
                  <a:srgbClr val="030303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Arsh Gupta                  SapId: </a:t>
            </a:r>
            <a:r>
              <a:rPr b="0"/>
              <a:t>500122397    </a:t>
            </a:r>
            <a:r>
              <a:t>Course:</a:t>
            </a:r>
            <a:r>
              <a:rPr b="0"/>
              <a:t> Btech Cse</a:t>
            </a:r>
          </a:p>
        </p:txBody>
      </p:sp>
      <p:sp>
        <p:nvSpPr>
          <p:cNvPr id="90" name="Text 5"/>
          <p:cNvSpPr txBox="1"/>
          <p:nvPr/>
        </p:nvSpPr>
        <p:spPr>
          <a:xfrm>
            <a:off x="6222198" y="5492395"/>
            <a:ext cx="6666931" cy="3089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/>
          <a:p>
            <a:pPr>
              <a:lnSpc>
                <a:spcPts val="2500"/>
              </a:lnSpc>
              <a:defRPr b="1" sz="2000">
                <a:solidFill>
                  <a:srgbClr val="030303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Anshika Tomar            SapId: </a:t>
            </a:r>
            <a:r>
              <a:rPr b="0"/>
              <a:t>500119658     </a:t>
            </a:r>
            <a:r>
              <a:t>Course:</a:t>
            </a:r>
            <a:r>
              <a:rPr b="0"/>
              <a:t> Btech Cse</a:t>
            </a:r>
          </a:p>
        </p:txBody>
      </p:sp>
      <p:sp>
        <p:nvSpPr>
          <p:cNvPr id="91" name="Text 6"/>
          <p:cNvSpPr txBox="1"/>
          <p:nvPr/>
        </p:nvSpPr>
        <p:spPr>
          <a:xfrm>
            <a:off x="6220276" y="6055662"/>
            <a:ext cx="6670775" cy="3089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/>
          <a:p>
            <a:pPr>
              <a:lnSpc>
                <a:spcPts val="2500"/>
              </a:lnSpc>
              <a:defRPr b="1" sz="2000">
                <a:solidFill>
                  <a:srgbClr val="030303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Bhavya Mittal              SapId: </a:t>
            </a:r>
            <a:r>
              <a:rPr b="0"/>
              <a:t>500119005     </a:t>
            </a:r>
            <a:r>
              <a:t>Course:</a:t>
            </a:r>
            <a:r>
              <a:rPr b="0"/>
              <a:t> Btech Cse</a:t>
            </a:r>
          </a:p>
        </p:txBody>
      </p:sp>
      <p:sp>
        <p:nvSpPr>
          <p:cNvPr id="92" name="Text 7"/>
          <p:cNvSpPr txBox="1"/>
          <p:nvPr/>
        </p:nvSpPr>
        <p:spPr>
          <a:xfrm>
            <a:off x="12214650" y="6695350"/>
            <a:ext cx="1712975" cy="3144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r">
              <a:lnSpc>
                <a:spcPts val="2500"/>
              </a:lnSpc>
              <a:defRPr b="1" sz="2200">
                <a:solidFill>
                  <a:srgbClr val="030303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Submitted To:</a:t>
            </a:r>
          </a:p>
        </p:txBody>
      </p:sp>
      <p:sp>
        <p:nvSpPr>
          <p:cNvPr id="93" name="Text 8"/>
          <p:cNvSpPr txBox="1"/>
          <p:nvPr/>
        </p:nvSpPr>
        <p:spPr>
          <a:xfrm>
            <a:off x="12129960" y="7147886"/>
            <a:ext cx="1882355" cy="3089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r">
              <a:lnSpc>
                <a:spcPts val="2500"/>
              </a:lnSpc>
              <a:defRPr sz="2000">
                <a:solidFill>
                  <a:srgbClr val="030303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Dr. Santosh Panda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Text 0"/>
          <p:cNvSpPr txBox="1"/>
          <p:nvPr/>
        </p:nvSpPr>
        <p:spPr>
          <a:xfrm>
            <a:off x="758309" y="962620"/>
            <a:ext cx="1761288" cy="5486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4400"/>
              </a:lnSpc>
              <a:defRPr b="1" sz="3700">
                <a:solidFill>
                  <a:srgbClr val="403CC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Abstract</a:t>
            </a:r>
          </a:p>
        </p:txBody>
      </p:sp>
      <p:sp>
        <p:nvSpPr>
          <p:cNvPr id="96" name="Shape 1"/>
          <p:cNvSpPr/>
          <p:nvPr/>
        </p:nvSpPr>
        <p:spPr>
          <a:xfrm>
            <a:off x="758308" y="1965960"/>
            <a:ext cx="13113784" cy="1408272"/>
          </a:xfrm>
          <a:prstGeom prst="roundRect">
            <a:avLst>
              <a:gd name="adj" fmla="val 2308"/>
            </a:avLst>
          </a:prstGeom>
          <a:solidFill>
            <a:srgbClr val="EAE8F3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97" name="Text 2"/>
          <p:cNvSpPr txBox="1"/>
          <p:nvPr/>
        </p:nvSpPr>
        <p:spPr>
          <a:xfrm>
            <a:off x="974884" y="2251406"/>
            <a:ext cx="12680633" cy="6209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2500"/>
              </a:lnSpc>
              <a:defRPr>
                <a:solidFill>
                  <a:srgbClr val="030303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This project implements a gesture-controlled Snake Game using deep-learning–based hand-landmark detection. The system uses MediaPipe’s CNN-driven hand model to extract and track hand keypoints in real time, converting fingertip motion into game controls.</a:t>
            </a:r>
          </a:p>
        </p:txBody>
      </p:sp>
      <p:sp>
        <p:nvSpPr>
          <p:cNvPr id="98" name="Shape 3"/>
          <p:cNvSpPr/>
          <p:nvPr/>
        </p:nvSpPr>
        <p:spPr>
          <a:xfrm>
            <a:off x="758308" y="3617952"/>
            <a:ext cx="13113784" cy="3648908"/>
          </a:xfrm>
          <a:prstGeom prst="roundRect">
            <a:avLst>
              <a:gd name="adj" fmla="val 891"/>
            </a:avLst>
          </a:prstGeom>
          <a:solidFill>
            <a:srgbClr val="EAE8F3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99" name="Text 4"/>
          <p:cNvSpPr txBox="1"/>
          <p:nvPr/>
        </p:nvSpPr>
        <p:spPr>
          <a:xfrm>
            <a:off x="974884" y="3834527"/>
            <a:ext cx="3445173" cy="3449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800"/>
              </a:lnSpc>
              <a:defRPr b="1" sz="2200">
                <a:solidFill>
                  <a:srgbClr val="030303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Key Deep Learning Features</a:t>
            </a:r>
          </a:p>
        </p:txBody>
      </p:sp>
      <p:sp>
        <p:nvSpPr>
          <p:cNvPr id="100" name="Text 5"/>
          <p:cNvSpPr txBox="1"/>
          <p:nvPr/>
        </p:nvSpPr>
        <p:spPr>
          <a:xfrm>
            <a:off x="974884" y="4320659"/>
            <a:ext cx="3947679" cy="3007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marL="342900" indent="-342900">
              <a:lnSpc>
                <a:spcPts val="2500"/>
              </a:lnSpc>
              <a:buSzPct val="100000"/>
              <a:buChar char="•"/>
              <a:defRPr sz="1700">
                <a:solidFill>
                  <a:srgbClr val="030303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MediaPipe Hands uses two CNN models:</a:t>
            </a:r>
          </a:p>
        </p:txBody>
      </p:sp>
      <p:sp>
        <p:nvSpPr>
          <p:cNvPr id="101" name="Text 6"/>
          <p:cNvSpPr txBox="1"/>
          <p:nvPr/>
        </p:nvSpPr>
        <p:spPr>
          <a:xfrm>
            <a:off x="974884" y="4721423"/>
            <a:ext cx="4757589" cy="3007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/>
          <a:p>
            <a:pPr lvl="1" marL="685800" indent="-342900">
              <a:lnSpc>
                <a:spcPts val="2500"/>
              </a:lnSpc>
              <a:buSzPct val="100000"/>
              <a:buChar char="•"/>
              <a:defRPr sz="1700">
                <a:solidFill>
                  <a:srgbClr val="030303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Palm Detection CNN – detects the hand region</a:t>
            </a:r>
          </a:p>
        </p:txBody>
      </p:sp>
      <p:sp>
        <p:nvSpPr>
          <p:cNvPr id="102" name="Text 7"/>
          <p:cNvSpPr txBox="1"/>
          <p:nvPr/>
        </p:nvSpPr>
        <p:spPr>
          <a:xfrm>
            <a:off x="974884" y="5122188"/>
            <a:ext cx="6682452" cy="3007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/>
          <a:p>
            <a:pPr lvl="1" marL="685800" indent="-342900">
              <a:lnSpc>
                <a:spcPts val="2500"/>
              </a:lnSpc>
              <a:buSzPct val="100000"/>
              <a:buChar char="•"/>
              <a:defRPr sz="1700">
                <a:solidFill>
                  <a:srgbClr val="030303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Landmark Regression CNN – predicts 21 hand keypoints in real time</a:t>
            </a:r>
          </a:p>
        </p:txBody>
      </p:sp>
      <p:sp>
        <p:nvSpPr>
          <p:cNvPr id="103" name="Text 8"/>
          <p:cNvSpPr txBox="1"/>
          <p:nvPr/>
        </p:nvSpPr>
        <p:spPr>
          <a:xfrm>
            <a:off x="974884" y="5522952"/>
            <a:ext cx="8512362" cy="3007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marL="342900" indent="-342900">
              <a:lnSpc>
                <a:spcPts val="2500"/>
              </a:lnSpc>
              <a:buSzPct val="100000"/>
              <a:buChar char="•"/>
              <a:defRPr sz="1700">
                <a:solidFill>
                  <a:srgbClr val="030303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Landmark outputs (x, y, z) serve as deep-learning–generated features for gesture interpretation</a:t>
            </a:r>
          </a:p>
        </p:txBody>
      </p:sp>
      <p:sp>
        <p:nvSpPr>
          <p:cNvPr id="104" name="Text 9"/>
          <p:cNvSpPr txBox="1"/>
          <p:nvPr/>
        </p:nvSpPr>
        <p:spPr>
          <a:xfrm>
            <a:off x="974884" y="5923717"/>
            <a:ext cx="9450177" cy="3007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marL="342900" indent="-342900">
              <a:lnSpc>
                <a:spcPts val="2500"/>
              </a:lnSpc>
              <a:buSzPct val="100000"/>
              <a:buChar char="•"/>
              <a:defRPr sz="1700">
                <a:solidFill>
                  <a:srgbClr val="030303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No manual feature engineering required — CNN automatically learns hand geometry and spatial patterns</a:t>
            </a:r>
          </a:p>
        </p:txBody>
      </p:sp>
      <p:sp>
        <p:nvSpPr>
          <p:cNvPr id="105" name="Text 10"/>
          <p:cNvSpPr txBox="1"/>
          <p:nvPr/>
        </p:nvSpPr>
        <p:spPr>
          <a:xfrm>
            <a:off x="974884" y="6324481"/>
            <a:ext cx="7550194" cy="3007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marL="342900" indent="-342900">
              <a:lnSpc>
                <a:spcPts val="2500"/>
              </a:lnSpc>
              <a:buSzPct val="100000"/>
              <a:buChar char="•"/>
              <a:defRPr sz="1700">
                <a:solidFill>
                  <a:srgbClr val="030303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Index Fingertip (Landmark 8) used as the main directional input for gesture control</a:t>
            </a:r>
          </a:p>
        </p:txBody>
      </p:sp>
      <p:sp>
        <p:nvSpPr>
          <p:cNvPr id="106" name="Text 11"/>
          <p:cNvSpPr txBox="1"/>
          <p:nvPr/>
        </p:nvSpPr>
        <p:spPr>
          <a:xfrm>
            <a:off x="974884" y="6725245"/>
            <a:ext cx="8806167" cy="3007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marL="342900" indent="-342900">
              <a:lnSpc>
                <a:spcPts val="2500"/>
              </a:lnSpc>
              <a:buSzPct val="100000"/>
              <a:buChar char="•"/>
              <a:defRPr sz="1700">
                <a:solidFill>
                  <a:srgbClr val="030303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Smoothing + motion analysis transform raw CNN predictions into stable, usable game commands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 0"/>
          <p:cNvSpPr txBox="1"/>
          <p:nvPr/>
        </p:nvSpPr>
        <p:spPr>
          <a:xfrm>
            <a:off x="702848" y="670293"/>
            <a:ext cx="4115148" cy="5182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4100"/>
              </a:lnSpc>
              <a:defRPr b="1" sz="3700">
                <a:solidFill>
                  <a:srgbClr val="403CC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Gesture Recognition</a:t>
            </a:r>
          </a:p>
        </p:txBody>
      </p:sp>
      <p:sp>
        <p:nvSpPr>
          <p:cNvPr id="109" name="Shape 1"/>
          <p:cNvSpPr/>
          <p:nvPr/>
        </p:nvSpPr>
        <p:spPr>
          <a:xfrm>
            <a:off x="860940" y="1496257"/>
            <a:ext cx="22861" cy="6175178"/>
          </a:xfrm>
          <a:prstGeom prst="roundRect">
            <a:avLst>
              <a:gd name="adj" fmla="val 50000"/>
            </a:avLst>
          </a:prstGeom>
          <a:solidFill>
            <a:srgbClr val="D0CED9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10" name="Shape 2"/>
          <p:cNvSpPr/>
          <p:nvPr/>
        </p:nvSpPr>
        <p:spPr>
          <a:xfrm>
            <a:off x="838081" y="2441376"/>
            <a:ext cx="607695" cy="22861"/>
          </a:xfrm>
          <a:prstGeom prst="roundRect">
            <a:avLst>
              <a:gd name="adj" fmla="val 50000"/>
            </a:avLst>
          </a:prstGeom>
          <a:solidFill>
            <a:srgbClr val="D0CED9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pic>
        <p:nvPicPr>
          <p:cNvPr id="111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784979" y="2376845"/>
            <a:ext cx="151925" cy="151925"/>
          </a:xfrm>
          <a:prstGeom prst="rect">
            <a:avLst/>
          </a:prstGeom>
          <a:ln w="12700">
            <a:miter lim="400000"/>
          </a:ln>
        </p:spPr>
      </p:pic>
      <p:sp>
        <p:nvSpPr>
          <p:cNvPr id="112" name="Shape 3"/>
          <p:cNvSpPr/>
          <p:nvPr/>
        </p:nvSpPr>
        <p:spPr>
          <a:xfrm>
            <a:off x="1468636" y="1496257"/>
            <a:ext cx="12452747" cy="1913216"/>
          </a:xfrm>
          <a:prstGeom prst="roundRect">
            <a:avLst>
              <a:gd name="adj" fmla="val 1588"/>
            </a:avLst>
          </a:prstGeom>
          <a:solidFill>
            <a:srgbClr val="EAE8F3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13" name="Text 4"/>
          <p:cNvSpPr txBox="1"/>
          <p:nvPr/>
        </p:nvSpPr>
        <p:spPr>
          <a:xfrm>
            <a:off x="1671160" y="1698783"/>
            <a:ext cx="3463728" cy="32459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600"/>
              </a:lnSpc>
              <a:defRPr b="1" sz="2200">
                <a:solidFill>
                  <a:srgbClr val="030303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Traditional gesture methods:</a:t>
            </a:r>
          </a:p>
        </p:txBody>
      </p:sp>
      <p:sp>
        <p:nvSpPr>
          <p:cNvPr id="114" name="Text 5"/>
          <p:cNvSpPr txBox="1"/>
          <p:nvPr/>
        </p:nvSpPr>
        <p:spPr>
          <a:xfrm>
            <a:off x="1671160" y="2153363"/>
            <a:ext cx="5188156" cy="2803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marL="342900" indent="-342900">
              <a:lnSpc>
                <a:spcPts val="2300"/>
              </a:lnSpc>
              <a:buSzPct val="100000"/>
              <a:buChar char="•"/>
              <a:defRPr sz="1700">
                <a:solidFill>
                  <a:srgbClr val="030303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Used colour/contour detection → unstable and sensitive</a:t>
            </a:r>
          </a:p>
        </p:txBody>
      </p:sp>
      <p:sp>
        <p:nvSpPr>
          <p:cNvPr id="115" name="Text 6"/>
          <p:cNvSpPr txBox="1"/>
          <p:nvPr/>
        </p:nvSpPr>
        <p:spPr>
          <a:xfrm>
            <a:off x="1671160" y="2528173"/>
            <a:ext cx="3562686" cy="2803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marL="342900" indent="-342900">
              <a:lnSpc>
                <a:spcPts val="2300"/>
              </a:lnSpc>
              <a:buSzPct val="100000"/>
              <a:buChar char="•"/>
              <a:defRPr sz="1700">
                <a:solidFill>
                  <a:srgbClr val="030303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Required manual feature engineering</a:t>
            </a:r>
          </a:p>
        </p:txBody>
      </p:sp>
      <p:sp>
        <p:nvSpPr>
          <p:cNvPr id="116" name="Text 7"/>
          <p:cNvSpPr txBox="1"/>
          <p:nvPr/>
        </p:nvSpPr>
        <p:spPr>
          <a:xfrm>
            <a:off x="1671160" y="2902981"/>
            <a:ext cx="3185072" cy="2803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marL="342900" indent="-342900">
              <a:lnSpc>
                <a:spcPts val="2300"/>
              </a:lnSpc>
              <a:buSzPct val="100000"/>
              <a:buChar char="•"/>
              <a:defRPr sz="1700">
                <a:solidFill>
                  <a:srgbClr val="030303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Not reliable for real-time control</a:t>
            </a:r>
          </a:p>
        </p:txBody>
      </p:sp>
      <p:sp>
        <p:nvSpPr>
          <p:cNvPr id="117" name="Shape 8"/>
          <p:cNvSpPr/>
          <p:nvPr/>
        </p:nvSpPr>
        <p:spPr>
          <a:xfrm>
            <a:off x="838081" y="4572356"/>
            <a:ext cx="607695" cy="22861"/>
          </a:xfrm>
          <a:prstGeom prst="roundRect">
            <a:avLst>
              <a:gd name="adj" fmla="val 50000"/>
            </a:avLst>
          </a:prstGeom>
          <a:solidFill>
            <a:srgbClr val="D0CED9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pic>
        <p:nvPicPr>
          <p:cNvPr id="118" name="Image 1" descr="Image 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784979" y="4507824"/>
            <a:ext cx="151925" cy="151925"/>
          </a:xfrm>
          <a:prstGeom prst="rect">
            <a:avLst/>
          </a:prstGeom>
          <a:ln w="12700">
            <a:miter lim="400000"/>
          </a:ln>
        </p:spPr>
      </p:pic>
      <p:sp>
        <p:nvSpPr>
          <p:cNvPr id="119" name="Shape 9"/>
          <p:cNvSpPr/>
          <p:nvPr/>
        </p:nvSpPr>
        <p:spPr>
          <a:xfrm>
            <a:off x="1468636" y="3814643"/>
            <a:ext cx="12452747" cy="1538408"/>
          </a:xfrm>
          <a:prstGeom prst="roundRect">
            <a:avLst>
              <a:gd name="adj" fmla="val 1975"/>
            </a:avLst>
          </a:prstGeom>
          <a:solidFill>
            <a:srgbClr val="EAE8F3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20" name="Text 10"/>
          <p:cNvSpPr txBox="1"/>
          <p:nvPr/>
        </p:nvSpPr>
        <p:spPr>
          <a:xfrm>
            <a:off x="1671160" y="4017169"/>
            <a:ext cx="2395105" cy="3245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600"/>
              </a:lnSpc>
              <a:defRPr b="1" sz="2200">
                <a:solidFill>
                  <a:srgbClr val="030303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Deep-learning shift:</a:t>
            </a:r>
          </a:p>
        </p:txBody>
      </p:sp>
      <p:sp>
        <p:nvSpPr>
          <p:cNvPr id="121" name="Text 11"/>
          <p:cNvSpPr txBox="1"/>
          <p:nvPr/>
        </p:nvSpPr>
        <p:spPr>
          <a:xfrm>
            <a:off x="1671160" y="4471749"/>
            <a:ext cx="3820754" cy="2803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marL="342900" indent="-342900">
              <a:lnSpc>
                <a:spcPts val="2300"/>
              </a:lnSpc>
              <a:buSzPct val="100000"/>
              <a:buChar char="•"/>
              <a:defRPr sz="1700">
                <a:solidFill>
                  <a:srgbClr val="030303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CNNs learn hand features automatically</a:t>
            </a:r>
          </a:p>
        </p:txBody>
      </p:sp>
      <p:sp>
        <p:nvSpPr>
          <p:cNvPr id="122" name="Text 12"/>
          <p:cNvSpPr txBox="1"/>
          <p:nvPr/>
        </p:nvSpPr>
        <p:spPr>
          <a:xfrm>
            <a:off x="1671160" y="4846558"/>
            <a:ext cx="4565019" cy="2803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marL="342900" indent="-342900">
              <a:lnSpc>
                <a:spcPts val="2300"/>
              </a:lnSpc>
              <a:buSzPct val="100000"/>
              <a:buChar char="•"/>
              <a:defRPr sz="1700">
                <a:solidFill>
                  <a:srgbClr val="030303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More robust to lighting &amp; background variations</a:t>
            </a:r>
          </a:p>
        </p:txBody>
      </p:sp>
      <p:sp>
        <p:nvSpPr>
          <p:cNvPr id="123" name="Shape 13"/>
          <p:cNvSpPr/>
          <p:nvPr/>
        </p:nvSpPr>
        <p:spPr>
          <a:xfrm>
            <a:off x="838081" y="6703338"/>
            <a:ext cx="607695" cy="22861"/>
          </a:xfrm>
          <a:prstGeom prst="roundRect">
            <a:avLst>
              <a:gd name="adj" fmla="val 50000"/>
            </a:avLst>
          </a:prstGeom>
          <a:solidFill>
            <a:srgbClr val="D0CED9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pic>
        <p:nvPicPr>
          <p:cNvPr id="124" name="Image 2" descr="Image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784979" y="6638805"/>
            <a:ext cx="151925" cy="151925"/>
          </a:xfrm>
          <a:prstGeom prst="rect">
            <a:avLst/>
          </a:prstGeom>
          <a:ln w="12700">
            <a:miter lim="400000"/>
          </a:ln>
        </p:spPr>
      </p:pic>
      <p:sp>
        <p:nvSpPr>
          <p:cNvPr id="125" name="Shape 14"/>
          <p:cNvSpPr/>
          <p:nvPr/>
        </p:nvSpPr>
        <p:spPr>
          <a:xfrm>
            <a:off x="1468636" y="5758219"/>
            <a:ext cx="12452747" cy="1913216"/>
          </a:xfrm>
          <a:prstGeom prst="roundRect">
            <a:avLst>
              <a:gd name="adj" fmla="val 1588"/>
            </a:avLst>
          </a:prstGeom>
          <a:solidFill>
            <a:srgbClr val="EAE8F3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26" name="Text 15"/>
          <p:cNvSpPr txBox="1"/>
          <p:nvPr/>
        </p:nvSpPr>
        <p:spPr>
          <a:xfrm>
            <a:off x="1671160" y="5960745"/>
            <a:ext cx="4679282" cy="3245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600"/>
              </a:lnSpc>
              <a:defRPr b="1" sz="2200">
                <a:solidFill>
                  <a:srgbClr val="030303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MediaPipe-based Gesture Recognition:</a:t>
            </a:r>
          </a:p>
        </p:txBody>
      </p:sp>
      <p:sp>
        <p:nvSpPr>
          <p:cNvPr id="127" name="Text 16"/>
          <p:cNvSpPr txBox="1"/>
          <p:nvPr/>
        </p:nvSpPr>
        <p:spPr>
          <a:xfrm>
            <a:off x="1671160" y="6415325"/>
            <a:ext cx="5469838" cy="2803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/>
          <a:p>
            <a:pPr marL="342900" indent="-342900">
              <a:lnSpc>
                <a:spcPts val="2300"/>
              </a:lnSpc>
              <a:buSzPct val="100000"/>
              <a:buChar char="•"/>
              <a:defRPr sz="1700">
                <a:solidFill>
                  <a:srgbClr val="030303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Uses </a:t>
            </a:r>
            <a:r>
              <a:rPr b="1"/>
              <a:t>CNN landmark detection</a:t>
            </a:r>
            <a:r>
              <a:t> for accurate hand tracking</a:t>
            </a:r>
          </a:p>
        </p:txBody>
      </p:sp>
      <p:sp>
        <p:nvSpPr>
          <p:cNvPr id="128" name="Text 17"/>
          <p:cNvSpPr txBox="1"/>
          <p:nvPr/>
        </p:nvSpPr>
        <p:spPr>
          <a:xfrm>
            <a:off x="1671160" y="6790134"/>
            <a:ext cx="4833312" cy="2803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/>
          <a:p>
            <a:pPr marL="342900" indent="-342900">
              <a:lnSpc>
                <a:spcPts val="2300"/>
              </a:lnSpc>
              <a:buSzPct val="100000"/>
              <a:buChar char="•"/>
              <a:defRPr sz="1700">
                <a:solidFill>
                  <a:srgbClr val="030303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Tracks </a:t>
            </a:r>
            <a:r>
              <a:rPr b="1"/>
              <a:t>index fingertip (Landmark 8)</a:t>
            </a:r>
            <a:r>
              <a:t> for direction</a:t>
            </a:r>
          </a:p>
        </p:txBody>
      </p:sp>
      <p:sp>
        <p:nvSpPr>
          <p:cNvPr id="129" name="Text 18"/>
          <p:cNvSpPr txBox="1"/>
          <p:nvPr/>
        </p:nvSpPr>
        <p:spPr>
          <a:xfrm>
            <a:off x="1671160" y="7164943"/>
            <a:ext cx="4891926" cy="2803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/>
          <a:p>
            <a:pPr marL="342900" indent="-342900">
              <a:lnSpc>
                <a:spcPts val="2300"/>
              </a:lnSpc>
              <a:buSzPct val="100000"/>
              <a:buChar char="•"/>
              <a:defRPr sz="1700">
                <a:solidFill>
                  <a:srgbClr val="030303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Fingertip motion → </a:t>
            </a:r>
            <a:r>
              <a:rPr b="1"/>
              <a:t>UP / DOWN / LEFT / RIGHT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Text 0"/>
          <p:cNvSpPr txBox="1"/>
          <p:nvPr/>
        </p:nvSpPr>
        <p:spPr>
          <a:xfrm>
            <a:off x="488989" y="455057"/>
            <a:ext cx="3028331" cy="3668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800"/>
              </a:lnSpc>
              <a:defRPr b="1" sz="3000">
                <a:solidFill>
                  <a:srgbClr val="403CC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Media-Pipe Model</a:t>
            </a:r>
          </a:p>
        </p:txBody>
      </p:sp>
      <p:sp>
        <p:nvSpPr>
          <p:cNvPr id="132" name="Shape 1"/>
          <p:cNvSpPr/>
          <p:nvPr/>
        </p:nvSpPr>
        <p:spPr>
          <a:xfrm>
            <a:off x="488990" y="1032152"/>
            <a:ext cx="13652421" cy="698185"/>
          </a:xfrm>
          <a:prstGeom prst="roundRect">
            <a:avLst>
              <a:gd name="adj" fmla="val 3002"/>
            </a:avLst>
          </a:prstGeom>
          <a:solidFill>
            <a:srgbClr val="EAE8F3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33" name="Text 2"/>
          <p:cNvSpPr txBox="1"/>
          <p:nvPr/>
        </p:nvSpPr>
        <p:spPr>
          <a:xfrm>
            <a:off x="628650" y="1171812"/>
            <a:ext cx="13373100" cy="4526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800"/>
              </a:lnSpc>
              <a:defRPr sz="1500">
                <a:solidFill>
                  <a:srgbClr val="030303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MediaPipe Hands is a deep-learning–based hand-tracking system that uses a two-stage CNN architecture to detect the hand and estimate 21 precise landmarks in real time. These landmark coordinates act as learned deep-learning features that enable robust, touchless gesture recognition for the Snake game.</a:t>
            </a:r>
          </a:p>
        </p:txBody>
      </p:sp>
      <p:sp>
        <p:nvSpPr>
          <p:cNvPr id="134" name="Shape 3"/>
          <p:cNvSpPr/>
          <p:nvPr/>
        </p:nvSpPr>
        <p:spPr>
          <a:xfrm>
            <a:off x="488990" y="1887497"/>
            <a:ext cx="6756321" cy="1835350"/>
          </a:xfrm>
          <a:prstGeom prst="roundRect">
            <a:avLst>
              <a:gd name="adj" fmla="val 1142"/>
            </a:avLst>
          </a:prstGeom>
          <a:solidFill>
            <a:srgbClr val="EAE8F3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35" name="Text 4"/>
          <p:cNvSpPr txBox="1"/>
          <p:nvPr/>
        </p:nvSpPr>
        <p:spPr>
          <a:xfrm>
            <a:off x="2791519" y="2027158"/>
            <a:ext cx="2151262" cy="22683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lnSpc>
                <a:spcPts val="1800"/>
              </a:lnSpc>
              <a:defRPr b="1" sz="1600">
                <a:solidFill>
                  <a:srgbClr val="030303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Palm Detection (Stage 1)</a:t>
            </a:r>
          </a:p>
        </p:txBody>
      </p:sp>
      <p:sp>
        <p:nvSpPr>
          <p:cNvPr id="136" name="Text 5"/>
          <p:cNvSpPr txBox="1"/>
          <p:nvPr/>
        </p:nvSpPr>
        <p:spPr>
          <a:xfrm>
            <a:off x="628650" y="2340768"/>
            <a:ext cx="2189275" cy="19827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/>
          <a:p>
            <a:pPr marL="342900" indent="-342900">
              <a:lnSpc>
                <a:spcPts val="1600"/>
              </a:lnSpc>
              <a:buSzPct val="100000"/>
              <a:buChar char="•"/>
              <a:defRPr sz="1300">
                <a:solidFill>
                  <a:srgbClr val="030303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CNN-based </a:t>
            </a:r>
            <a:r>
              <a:rPr b="1"/>
              <a:t>Palm Detector</a:t>
            </a:r>
          </a:p>
        </p:txBody>
      </p:sp>
      <p:sp>
        <p:nvSpPr>
          <p:cNvPr id="137" name="Text 6"/>
          <p:cNvSpPr txBox="1"/>
          <p:nvPr/>
        </p:nvSpPr>
        <p:spPr>
          <a:xfrm>
            <a:off x="628650" y="2599015"/>
            <a:ext cx="2464414" cy="1982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marL="342900" indent="-342900">
              <a:lnSpc>
                <a:spcPts val="1600"/>
              </a:lnSpc>
              <a:buSzPct val="100000"/>
              <a:buChar char="•"/>
              <a:defRPr sz="1300">
                <a:solidFill>
                  <a:srgbClr val="030303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Detects the hand region reliably</a:t>
            </a:r>
          </a:p>
        </p:txBody>
      </p:sp>
      <p:sp>
        <p:nvSpPr>
          <p:cNvPr id="138" name="Text 7"/>
          <p:cNvSpPr txBox="1"/>
          <p:nvPr/>
        </p:nvSpPr>
        <p:spPr>
          <a:xfrm>
            <a:off x="628650" y="2857262"/>
            <a:ext cx="3541756" cy="1982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marL="342900" indent="-342900">
              <a:lnSpc>
                <a:spcPts val="1600"/>
              </a:lnSpc>
              <a:buSzPct val="100000"/>
              <a:buChar char="•"/>
              <a:defRPr sz="1300">
                <a:solidFill>
                  <a:srgbClr val="030303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Less variation than full hand → higher accuracy</a:t>
            </a:r>
          </a:p>
        </p:txBody>
      </p:sp>
      <p:sp>
        <p:nvSpPr>
          <p:cNvPr id="139" name="Text 8"/>
          <p:cNvSpPr txBox="1"/>
          <p:nvPr/>
        </p:nvSpPr>
        <p:spPr>
          <a:xfrm>
            <a:off x="628650" y="3115508"/>
            <a:ext cx="2510446" cy="1982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marL="342900" indent="-342900">
              <a:lnSpc>
                <a:spcPts val="1600"/>
              </a:lnSpc>
              <a:buSzPct val="100000"/>
              <a:buChar char="•"/>
              <a:defRPr sz="1300">
                <a:solidFill>
                  <a:srgbClr val="030303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Generates a stable bounding box</a:t>
            </a:r>
          </a:p>
        </p:txBody>
      </p:sp>
      <p:sp>
        <p:nvSpPr>
          <p:cNvPr id="140" name="Text 9"/>
          <p:cNvSpPr txBox="1"/>
          <p:nvPr/>
        </p:nvSpPr>
        <p:spPr>
          <a:xfrm>
            <a:off x="628650" y="3373754"/>
            <a:ext cx="2954394" cy="19827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marL="342900" indent="-342900">
              <a:lnSpc>
                <a:spcPts val="1600"/>
              </a:lnSpc>
              <a:buSzPct val="100000"/>
              <a:buChar char="•"/>
              <a:defRPr sz="1300">
                <a:solidFill>
                  <a:srgbClr val="030303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Works even with partial hand visibility.</a:t>
            </a:r>
          </a:p>
        </p:txBody>
      </p:sp>
      <p:sp>
        <p:nvSpPr>
          <p:cNvPr id="141" name="Shape 10"/>
          <p:cNvSpPr/>
          <p:nvPr/>
        </p:nvSpPr>
        <p:spPr>
          <a:xfrm>
            <a:off x="7384970" y="1887497"/>
            <a:ext cx="6756442" cy="1835350"/>
          </a:xfrm>
          <a:prstGeom prst="roundRect">
            <a:avLst>
              <a:gd name="adj" fmla="val 1142"/>
            </a:avLst>
          </a:prstGeom>
          <a:solidFill>
            <a:srgbClr val="EAE8F3"/>
          </a:solidFill>
          <a:ln w="12700">
            <a:miter lim="400000"/>
          </a:ln>
        </p:spPr>
        <p:txBody>
          <a:bodyPr lIns="45719" rIns="45719"/>
          <a:lstStyle/>
          <a:p>
            <a:pPr>
              <a:defRPr sz="2000"/>
            </a:pPr>
          </a:p>
        </p:txBody>
      </p:sp>
      <p:sp>
        <p:nvSpPr>
          <p:cNvPr id="142" name="Text 11"/>
          <p:cNvSpPr txBox="1"/>
          <p:nvPr/>
        </p:nvSpPr>
        <p:spPr>
          <a:xfrm>
            <a:off x="9187744" y="2027158"/>
            <a:ext cx="3150891" cy="22683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lnSpc>
                <a:spcPts val="1800"/>
              </a:lnSpc>
              <a:defRPr b="1" sz="1600">
                <a:solidFill>
                  <a:srgbClr val="030303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21-Point Landmark Model (Stage 2)</a:t>
            </a:r>
          </a:p>
        </p:txBody>
      </p:sp>
      <p:sp>
        <p:nvSpPr>
          <p:cNvPr id="143" name="Text 12"/>
          <p:cNvSpPr txBox="1"/>
          <p:nvPr/>
        </p:nvSpPr>
        <p:spPr>
          <a:xfrm>
            <a:off x="7524630" y="2340768"/>
            <a:ext cx="2969631" cy="19827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/>
          <a:p>
            <a:pPr marL="342900" indent="-342900">
              <a:lnSpc>
                <a:spcPts val="1600"/>
              </a:lnSpc>
              <a:buSzPct val="100000"/>
              <a:buChar char="•"/>
              <a:defRPr sz="1300">
                <a:solidFill>
                  <a:srgbClr val="030303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Regression CNN predicts </a:t>
            </a:r>
            <a:r>
              <a:rPr b="1"/>
              <a:t>21 keypoints</a:t>
            </a:r>
          </a:p>
        </p:txBody>
      </p:sp>
      <p:sp>
        <p:nvSpPr>
          <p:cNvPr id="144" name="Text 13"/>
          <p:cNvSpPr txBox="1"/>
          <p:nvPr/>
        </p:nvSpPr>
        <p:spPr>
          <a:xfrm>
            <a:off x="7524630" y="2599015"/>
            <a:ext cx="3466946" cy="1982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marL="342900" indent="-342900">
              <a:lnSpc>
                <a:spcPts val="1600"/>
              </a:lnSpc>
              <a:buSzPct val="100000"/>
              <a:buChar char="•"/>
              <a:defRPr sz="1300">
                <a:solidFill>
                  <a:srgbClr val="030303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Outputs (x, y, z) coordinates for each landmark</a:t>
            </a:r>
          </a:p>
        </p:txBody>
      </p:sp>
      <p:sp>
        <p:nvSpPr>
          <p:cNvPr id="145" name="Text 14"/>
          <p:cNvSpPr txBox="1"/>
          <p:nvPr/>
        </p:nvSpPr>
        <p:spPr>
          <a:xfrm>
            <a:off x="7524630" y="2857262"/>
            <a:ext cx="4157013" cy="1982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/>
          <a:p>
            <a:pPr marL="342900" indent="-342900">
              <a:lnSpc>
                <a:spcPts val="1600"/>
              </a:lnSpc>
              <a:buSzPct val="100000"/>
              <a:buChar char="•"/>
              <a:defRPr b="1" sz="1300">
                <a:solidFill>
                  <a:srgbClr val="030303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Landmark 8 (index fingertip)</a:t>
            </a:r>
            <a:r>
              <a:rPr b="0"/>
              <a:t> used for gesture direction</a:t>
            </a:r>
          </a:p>
        </p:txBody>
      </p:sp>
      <p:sp>
        <p:nvSpPr>
          <p:cNvPr id="146" name="Text 15"/>
          <p:cNvSpPr txBox="1"/>
          <p:nvPr/>
        </p:nvSpPr>
        <p:spPr>
          <a:xfrm>
            <a:off x="7524630" y="3115508"/>
            <a:ext cx="4123638" cy="1982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marL="342900" indent="-342900">
              <a:lnSpc>
                <a:spcPts val="1600"/>
              </a:lnSpc>
              <a:buSzPct val="100000"/>
              <a:buChar char="•"/>
              <a:defRPr sz="1300">
                <a:solidFill>
                  <a:srgbClr val="030303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Deep-learning features → no manual feature engineering</a:t>
            </a:r>
          </a:p>
        </p:txBody>
      </p:sp>
      <p:sp>
        <p:nvSpPr>
          <p:cNvPr id="147" name="Text 16"/>
          <p:cNvSpPr txBox="1"/>
          <p:nvPr/>
        </p:nvSpPr>
        <p:spPr>
          <a:xfrm>
            <a:off x="7524630" y="3373754"/>
            <a:ext cx="3399794" cy="19827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marL="342900" indent="-342900">
              <a:lnSpc>
                <a:spcPts val="1600"/>
              </a:lnSpc>
              <a:buSzPct val="100000"/>
              <a:buChar char="•"/>
              <a:defRPr sz="1300">
                <a:solidFill>
                  <a:srgbClr val="030303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Accurate, real-time keypoint tracking on CPU</a:t>
            </a:r>
          </a:p>
        </p:txBody>
      </p:sp>
      <p:pic>
        <p:nvPicPr>
          <p:cNvPr id="148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608029" y="3890248"/>
            <a:ext cx="11176993" cy="3894416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Text 0"/>
          <p:cNvSpPr txBox="1"/>
          <p:nvPr/>
        </p:nvSpPr>
        <p:spPr>
          <a:xfrm>
            <a:off x="619957" y="487323"/>
            <a:ext cx="2364204" cy="4564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3600"/>
              </a:lnSpc>
              <a:defRPr b="1" sz="3300">
                <a:solidFill>
                  <a:srgbClr val="403CC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Methodology</a:t>
            </a:r>
          </a:p>
        </p:txBody>
      </p:sp>
      <p:sp>
        <p:nvSpPr>
          <p:cNvPr id="151" name="Shape 1"/>
          <p:cNvSpPr/>
          <p:nvPr/>
        </p:nvSpPr>
        <p:spPr>
          <a:xfrm>
            <a:off x="7303769" y="1307782"/>
            <a:ext cx="22861" cy="6434496"/>
          </a:xfrm>
          <a:prstGeom prst="roundRect">
            <a:avLst>
              <a:gd name="adj" fmla="val 50000"/>
            </a:avLst>
          </a:prstGeom>
          <a:solidFill>
            <a:srgbClr val="3965A7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52" name="Shape 2"/>
          <p:cNvSpPr/>
          <p:nvPr/>
        </p:nvSpPr>
        <p:spPr>
          <a:xfrm>
            <a:off x="6607433" y="1495543"/>
            <a:ext cx="531377" cy="22861"/>
          </a:xfrm>
          <a:prstGeom prst="roundRect">
            <a:avLst>
              <a:gd name="adj" fmla="val 50000"/>
            </a:avLst>
          </a:prstGeom>
          <a:solidFill>
            <a:srgbClr val="3965A7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53" name="Shape 3"/>
          <p:cNvSpPr/>
          <p:nvPr/>
        </p:nvSpPr>
        <p:spPr>
          <a:xfrm>
            <a:off x="7115949" y="1307782"/>
            <a:ext cx="398503" cy="398503"/>
          </a:xfrm>
          <a:prstGeom prst="roundRect">
            <a:avLst>
              <a:gd name="adj" fmla="val 6668"/>
            </a:avLst>
          </a:prstGeom>
          <a:solidFill>
            <a:srgbClr val="204C8E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54" name="Text 4"/>
          <p:cNvSpPr txBox="1"/>
          <p:nvPr/>
        </p:nvSpPr>
        <p:spPr>
          <a:xfrm>
            <a:off x="7238941" y="1332190"/>
            <a:ext cx="152401" cy="2839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lnSpc>
                <a:spcPts val="2200"/>
              </a:lnSpc>
              <a:defRPr sz="22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155" name="Text 5"/>
          <p:cNvSpPr txBox="1"/>
          <p:nvPr/>
        </p:nvSpPr>
        <p:spPr>
          <a:xfrm>
            <a:off x="4867394" y="1367742"/>
            <a:ext cx="1628726" cy="2784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200"/>
              </a:lnSpc>
              <a:defRPr b="1" sz="2000">
                <a:solidFill>
                  <a:srgbClr val="030303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Webcam Input</a:t>
            </a:r>
          </a:p>
        </p:txBody>
      </p:sp>
      <p:sp>
        <p:nvSpPr>
          <p:cNvPr id="156" name="Text 6"/>
          <p:cNvSpPr txBox="1"/>
          <p:nvPr/>
        </p:nvSpPr>
        <p:spPr>
          <a:xfrm>
            <a:off x="2913297" y="1757406"/>
            <a:ext cx="3724574" cy="2471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marL="342900" indent="-342900">
              <a:lnSpc>
                <a:spcPts val="2000"/>
              </a:lnSpc>
              <a:buSzPct val="100000"/>
              <a:buChar char="•"/>
              <a:defRPr sz="1600">
                <a:solidFill>
                  <a:srgbClr val="030303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Capture live video frames using OpenCV</a:t>
            </a:r>
          </a:p>
        </p:txBody>
      </p:sp>
      <p:sp>
        <p:nvSpPr>
          <p:cNvPr id="157" name="Text 7"/>
          <p:cNvSpPr txBox="1"/>
          <p:nvPr/>
        </p:nvSpPr>
        <p:spPr>
          <a:xfrm>
            <a:off x="2938908" y="2115760"/>
            <a:ext cx="3030043" cy="24715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marL="342900" indent="-342900">
              <a:lnSpc>
                <a:spcPts val="2000"/>
              </a:lnSpc>
              <a:buSzPct val="100000"/>
              <a:buChar char="•"/>
              <a:defRPr sz="1600">
                <a:solidFill>
                  <a:srgbClr val="030303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Flip frame for natural interaction</a:t>
            </a:r>
          </a:p>
        </p:txBody>
      </p:sp>
      <p:sp>
        <p:nvSpPr>
          <p:cNvPr id="158" name="Shape 8"/>
          <p:cNvSpPr/>
          <p:nvPr/>
        </p:nvSpPr>
        <p:spPr>
          <a:xfrm>
            <a:off x="7491590" y="2558295"/>
            <a:ext cx="531377" cy="22861"/>
          </a:xfrm>
          <a:prstGeom prst="roundRect">
            <a:avLst>
              <a:gd name="adj" fmla="val 50000"/>
            </a:avLst>
          </a:prstGeom>
          <a:solidFill>
            <a:srgbClr val="3965A7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59" name="Shape 9"/>
          <p:cNvSpPr/>
          <p:nvPr/>
        </p:nvSpPr>
        <p:spPr>
          <a:xfrm>
            <a:off x="7115949" y="2370533"/>
            <a:ext cx="398503" cy="398503"/>
          </a:xfrm>
          <a:prstGeom prst="roundRect">
            <a:avLst>
              <a:gd name="adj" fmla="val 6668"/>
            </a:avLst>
          </a:prstGeom>
          <a:solidFill>
            <a:srgbClr val="204C8E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60" name="Text 10"/>
          <p:cNvSpPr txBox="1"/>
          <p:nvPr/>
        </p:nvSpPr>
        <p:spPr>
          <a:xfrm>
            <a:off x="7238941" y="2394941"/>
            <a:ext cx="152401" cy="2839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lnSpc>
                <a:spcPts val="2200"/>
              </a:lnSpc>
              <a:defRPr sz="22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161" name="Text 11"/>
          <p:cNvSpPr txBox="1"/>
          <p:nvPr/>
        </p:nvSpPr>
        <p:spPr>
          <a:xfrm>
            <a:off x="8200905" y="2431375"/>
            <a:ext cx="1527151" cy="2784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200"/>
              </a:lnSpc>
              <a:defRPr b="1" sz="2000">
                <a:solidFill>
                  <a:srgbClr val="030303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Preprocessing</a:t>
            </a:r>
          </a:p>
        </p:txBody>
      </p:sp>
      <p:sp>
        <p:nvSpPr>
          <p:cNvPr id="162" name="Text 12"/>
          <p:cNvSpPr txBox="1"/>
          <p:nvPr/>
        </p:nvSpPr>
        <p:spPr>
          <a:xfrm>
            <a:off x="8200905" y="2828924"/>
            <a:ext cx="2246512" cy="24715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/>
          <a:p>
            <a:pPr marL="342900" indent="-342900">
              <a:lnSpc>
                <a:spcPts val="2000"/>
              </a:lnSpc>
              <a:buSzPct val="100000"/>
              <a:buChar char="•"/>
              <a:defRPr sz="1600">
                <a:solidFill>
                  <a:srgbClr val="030303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Convert </a:t>
            </a:r>
            <a:r>
              <a:rPr b="1"/>
              <a:t>BGR → RGB</a:t>
            </a:r>
          </a:p>
        </p:txBody>
      </p:sp>
      <p:sp>
        <p:nvSpPr>
          <p:cNvPr id="163" name="Text 13"/>
          <p:cNvSpPr txBox="1"/>
          <p:nvPr/>
        </p:nvSpPr>
        <p:spPr>
          <a:xfrm>
            <a:off x="8200905" y="3156585"/>
            <a:ext cx="3762773" cy="2471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marL="342900" indent="-342900">
              <a:lnSpc>
                <a:spcPts val="2000"/>
              </a:lnSpc>
              <a:buSzPct val="100000"/>
              <a:buChar char="•"/>
              <a:defRPr sz="1600">
                <a:solidFill>
                  <a:srgbClr val="030303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Prepare frame for deep-learning inference</a:t>
            </a:r>
          </a:p>
        </p:txBody>
      </p:sp>
      <p:sp>
        <p:nvSpPr>
          <p:cNvPr id="164" name="Shape 14"/>
          <p:cNvSpPr/>
          <p:nvPr/>
        </p:nvSpPr>
        <p:spPr>
          <a:xfrm>
            <a:off x="6607433" y="3474363"/>
            <a:ext cx="531377" cy="22861"/>
          </a:xfrm>
          <a:prstGeom prst="roundRect">
            <a:avLst>
              <a:gd name="adj" fmla="val 50000"/>
            </a:avLst>
          </a:prstGeom>
          <a:solidFill>
            <a:srgbClr val="3965A7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65" name="Shape 15"/>
          <p:cNvSpPr/>
          <p:nvPr/>
        </p:nvSpPr>
        <p:spPr>
          <a:xfrm>
            <a:off x="7115949" y="3286600"/>
            <a:ext cx="398503" cy="398503"/>
          </a:xfrm>
          <a:prstGeom prst="roundRect">
            <a:avLst>
              <a:gd name="adj" fmla="val 6668"/>
            </a:avLst>
          </a:prstGeom>
          <a:solidFill>
            <a:srgbClr val="204C8E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66" name="Text 16"/>
          <p:cNvSpPr txBox="1"/>
          <p:nvPr/>
        </p:nvSpPr>
        <p:spPr>
          <a:xfrm>
            <a:off x="7238941" y="3311009"/>
            <a:ext cx="152401" cy="2839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lnSpc>
                <a:spcPts val="2200"/>
              </a:lnSpc>
              <a:defRPr sz="22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3</a:t>
            </a:r>
          </a:p>
        </p:txBody>
      </p:sp>
      <p:sp>
        <p:nvSpPr>
          <p:cNvPr id="167" name="Text 17"/>
          <p:cNvSpPr txBox="1"/>
          <p:nvPr/>
        </p:nvSpPr>
        <p:spPr>
          <a:xfrm>
            <a:off x="3543420" y="3346561"/>
            <a:ext cx="2886076" cy="2784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200"/>
              </a:lnSpc>
              <a:defRPr b="1" sz="2000">
                <a:solidFill>
                  <a:srgbClr val="030303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MediaPipe CNN Inference</a:t>
            </a:r>
          </a:p>
        </p:txBody>
      </p:sp>
      <p:sp>
        <p:nvSpPr>
          <p:cNvPr id="168" name="Text 18"/>
          <p:cNvSpPr txBox="1"/>
          <p:nvPr/>
        </p:nvSpPr>
        <p:spPr>
          <a:xfrm>
            <a:off x="2362763" y="3705181"/>
            <a:ext cx="2883695" cy="24715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/>
          <a:p>
            <a:pPr marL="342900" indent="-342900">
              <a:lnSpc>
                <a:spcPts val="2000"/>
              </a:lnSpc>
              <a:buSzPct val="100000"/>
              <a:buChar char="•"/>
              <a:defRPr sz="1600">
                <a:solidFill>
                  <a:srgbClr val="030303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Stage 1: </a:t>
            </a:r>
            <a:r>
              <a:rPr b="1"/>
              <a:t>Palm Detection CNN</a:t>
            </a:r>
          </a:p>
        </p:txBody>
      </p:sp>
      <p:sp>
        <p:nvSpPr>
          <p:cNvPr id="169" name="Text 19"/>
          <p:cNvSpPr txBox="1"/>
          <p:nvPr/>
        </p:nvSpPr>
        <p:spPr>
          <a:xfrm>
            <a:off x="2346870" y="4102444"/>
            <a:ext cx="3761086" cy="24715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/>
          <a:p>
            <a:pPr marL="342900" indent="-342900">
              <a:lnSpc>
                <a:spcPts val="2000"/>
              </a:lnSpc>
              <a:buSzPct val="100000"/>
              <a:buChar char="•"/>
              <a:defRPr sz="1600">
                <a:solidFill>
                  <a:srgbClr val="030303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Stage 2: </a:t>
            </a:r>
            <a:r>
              <a:rPr b="1"/>
              <a:t>21-Landmark Regression CNN</a:t>
            </a:r>
          </a:p>
        </p:txBody>
      </p:sp>
      <p:sp>
        <p:nvSpPr>
          <p:cNvPr id="170" name="Text 20"/>
          <p:cNvSpPr txBox="1"/>
          <p:nvPr/>
        </p:nvSpPr>
        <p:spPr>
          <a:xfrm>
            <a:off x="2351191" y="4499707"/>
            <a:ext cx="3550147" cy="24715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/>
          <a:p>
            <a:pPr marL="342900" indent="-342900">
              <a:lnSpc>
                <a:spcPts val="2000"/>
              </a:lnSpc>
              <a:buSzPct val="100000"/>
              <a:buChar char="•"/>
              <a:defRPr sz="1600">
                <a:solidFill>
                  <a:srgbClr val="030303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Extract </a:t>
            </a:r>
            <a:r>
              <a:rPr b="1"/>
              <a:t>index fingertip (Landmark 8)</a:t>
            </a:r>
          </a:p>
        </p:txBody>
      </p:sp>
      <p:sp>
        <p:nvSpPr>
          <p:cNvPr id="171" name="Shape 21"/>
          <p:cNvSpPr/>
          <p:nvPr/>
        </p:nvSpPr>
        <p:spPr>
          <a:xfrm>
            <a:off x="7491590" y="4390549"/>
            <a:ext cx="531377" cy="22861"/>
          </a:xfrm>
          <a:prstGeom prst="roundRect">
            <a:avLst>
              <a:gd name="adj" fmla="val 50000"/>
            </a:avLst>
          </a:prstGeom>
          <a:solidFill>
            <a:srgbClr val="3965A7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72" name="Shape 22"/>
          <p:cNvSpPr/>
          <p:nvPr/>
        </p:nvSpPr>
        <p:spPr>
          <a:xfrm>
            <a:off x="7115949" y="4202786"/>
            <a:ext cx="398503" cy="398503"/>
          </a:xfrm>
          <a:prstGeom prst="roundRect">
            <a:avLst>
              <a:gd name="adj" fmla="val 6668"/>
            </a:avLst>
          </a:prstGeom>
          <a:solidFill>
            <a:srgbClr val="204C8E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73" name="Text 23"/>
          <p:cNvSpPr txBox="1"/>
          <p:nvPr/>
        </p:nvSpPr>
        <p:spPr>
          <a:xfrm>
            <a:off x="7238941" y="4227195"/>
            <a:ext cx="152401" cy="2839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lnSpc>
                <a:spcPts val="2200"/>
              </a:lnSpc>
              <a:defRPr sz="22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4</a:t>
            </a:r>
          </a:p>
        </p:txBody>
      </p:sp>
      <p:sp>
        <p:nvSpPr>
          <p:cNvPr id="174" name="Text 24"/>
          <p:cNvSpPr txBox="1"/>
          <p:nvPr/>
        </p:nvSpPr>
        <p:spPr>
          <a:xfrm>
            <a:off x="8200905" y="4263628"/>
            <a:ext cx="2479403" cy="2784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200"/>
              </a:lnSpc>
              <a:defRPr b="1" sz="2000">
                <a:solidFill>
                  <a:srgbClr val="030303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Gesture Interpretation</a:t>
            </a:r>
          </a:p>
        </p:txBody>
      </p:sp>
      <p:sp>
        <p:nvSpPr>
          <p:cNvPr id="175" name="Text 25"/>
          <p:cNvSpPr txBox="1"/>
          <p:nvPr/>
        </p:nvSpPr>
        <p:spPr>
          <a:xfrm>
            <a:off x="8200905" y="4661177"/>
            <a:ext cx="3944145" cy="24715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marL="342900" indent="-342900">
              <a:lnSpc>
                <a:spcPts val="2000"/>
              </a:lnSpc>
              <a:buSzPct val="100000"/>
              <a:buChar char="•"/>
              <a:defRPr sz="1600">
                <a:solidFill>
                  <a:srgbClr val="030303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Calculate fingertip movement across frames</a:t>
            </a:r>
          </a:p>
        </p:txBody>
      </p:sp>
      <p:sp>
        <p:nvSpPr>
          <p:cNvPr id="176" name="Text 26"/>
          <p:cNvSpPr txBox="1"/>
          <p:nvPr/>
        </p:nvSpPr>
        <p:spPr>
          <a:xfrm>
            <a:off x="8200905" y="4988838"/>
            <a:ext cx="4404222" cy="24715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/>
          <a:p>
            <a:pPr marL="342900" indent="-342900">
              <a:lnSpc>
                <a:spcPts val="2000"/>
              </a:lnSpc>
              <a:buSzPct val="100000"/>
              <a:buChar char="•"/>
              <a:defRPr sz="1600">
                <a:solidFill>
                  <a:srgbClr val="030303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Apply </a:t>
            </a:r>
            <a:r>
              <a:rPr b="1"/>
              <a:t>thresholding</a:t>
            </a:r>
            <a:r>
              <a:t> to remove micro-movements</a:t>
            </a:r>
          </a:p>
        </p:txBody>
      </p:sp>
      <p:sp>
        <p:nvSpPr>
          <p:cNvPr id="177" name="Text 27"/>
          <p:cNvSpPr txBox="1"/>
          <p:nvPr/>
        </p:nvSpPr>
        <p:spPr>
          <a:xfrm>
            <a:off x="8200905" y="5316497"/>
            <a:ext cx="3617914" cy="24715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/>
          <a:p>
            <a:pPr marL="342900" indent="-342900">
              <a:lnSpc>
                <a:spcPts val="2000"/>
              </a:lnSpc>
              <a:buSzPct val="100000"/>
              <a:buChar char="•"/>
              <a:defRPr sz="1600">
                <a:solidFill>
                  <a:srgbClr val="030303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Apply </a:t>
            </a:r>
            <a:r>
              <a:rPr b="1"/>
              <a:t>smoothing (buffers)</a:t>
            </a:r>
            <a:r>
              <a:t> for stability</a:t>
            </a:r>
          </a:p>
        </p:txBody>
      </p:sp>
      <p:sp>
        <p:nvSpPr>
          <p:cNvPr id="178" name="Text 28"/>
          <p:cNvSpPr txBox="1"/>
          <p:nvPr/>
        </p:nvSpPr>
        <p:spPr>
          <a:xfrm>
            <a:off x="8200905" y="5644157"/>
            <a:ext cx="4252517" cy="24715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/>
          <a:p>
            <a:pPr marL="342900" indent="-342900">
              <a:lnSpc>
                <a:spcPts val="2000"/>
              </a:lnSpc>
              <a:buSzPct val="100000"/>
              <a:buChar char="•"/>
              <a:defRPr sz="1600">
                <a:solidFill>
                  <a:srgbClr val="030303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Map motion → </a:t>
            </a:r>
            <a:r>
              <a:rPr b="1"/>
              <a:t>UP / DOWN / LEFT / RIGHT</a:t>
            </a:r>
          </a:p>
        </p:txBody>
      </p:sp>
      <p:sp>
        <p:nvSpPr>
          <p:cNvPr id="179" name="Shape 29"/>
          <p:cNvSpPr/>
          <p:nvPr/>
        </p:nvSpPr>
        <p:spPr>
          <a:xfrm>
            <a:off x="6607433" y="5421153"/>
            <a:ext cx="531377" cy="22861"/>
          </a:xfrm>
          <a:prstGeom prst="roundRect">
            <a:avLst>
              <a:gd name="adj" fmla="val 50000"/>
            </a:avLst>
          </a:prstGeom>
          <a:solidFill>
            <a:srgbClr val="3965A7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80" name="Shape 30"/>
          <p:cNvSpPr/>
          <p:nvPr/>
        </p:nvSpPr>
        <p:spPr>
          <a:xfrm>
            <a:off x="7115949" y="5233392"/>
            <a:ext cx="398503" cy="398503"/>
          </a:xfrm>
          <a:prstGeom prst="roundRect">
            <a:avLst>
              <a:gd name="adj" fmla="val 6668"/>
            </a:avLst>
          </a:prstGeom>
          <a:solidFill>
            <a:srgbClr val="204C8E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81" name="Text 31"/>
          <p:cNvSpPr txBox="1"/>
          <p:nvPr/>
        </p:nvSpPr>
        <p:spPr>
          <a:xfrm>
            <a:off x="7238941" y="5257799"/>
            <a:ext cx="152401" cy="2839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lnSpc>
                <a:spcPts val="2200"/>
              </a:lnSpc>
              <a:defRPr sz="22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5</a:t>
            </a:r>
          </a:p>
        </p:txBody>
      </p:sp>
      <p:sp>
        <p:nvSpPr>
          <p:cNvPr id="182" name="Text 32"/>
          <p:cNvSpPr txBox="1"/>
          <p:nvPr/>
        </p:nvSpPr>
        <p:spPr>
          <a:xfrm>
            <a:off x="3664049" y="5282200"/>
            <a:ext cx="2778424" cy="2784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200"/>
              </a:lnSpc>
              <a:defRPr b="1" sz="2000">
                <a:solidFill>
                  <a:srgbClr val="030303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Game Engine Integration</a:t>
            </a:r>
          </a:p>
        </p:txBody>
      </p:sp>
      <p:sp>
        <p:nvSpPr>
          <p:cNvPr id="183" name="Text 33"/>
          <p:cNvSpPr txBox="1"/>
          <p:nvPr/>
        </p:nvSpPr>
        <p:spPr>
          <a:xfrm>
            <a:off x="2305991" y="5672551"/>
            <a:ext cx="3842843" cy="24715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marL="342900" indent="-342900">
              <a:lnSpc>
                <a:spcPts val="2000"/>
              </a:lnSpc>
              <a:buSzPct val="100000"/>
              <a:buChar char="•"/>
              <a:defRPr sz="1600">
                <a:solidFill>
                  <a:srgbClr val="030303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Send final gesture direction to Snake game</a:t>
            </a:r>
          </a:p>
        </p:txBody>
      </p:sp>
      <p:sp>
        <p:nvSpPr>
          <p:cNvPr id="184" name="Text 34"/>
          <p:cNvSpPr txBox="1"/>
          <p:nvPr/>
        </p:nvSpPr>
        <p:spPr>
          <a:xfrm>
            <a:off x="2311787" y="6011311"/>
            <a:ext cx="4182419" cy="24715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marL="342900" indent="-342900">
              <a:lnSpc>
                <a:spcPts val="2000"/>
              </a:lnSpc>
              <a:buSzPct val="100000"/>
              <a:buChar char="•"/>
              <a:defRPr sz="1600">
                <a:solidFill>
                  <a:srgbClr val="030303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Pygame updates movement, collisions, score</a:t>
            </a:r>
          </a:p>
        </p:txBody>
      </p:sp>
      <p:sp>
        <p:nvSpPr>
          <p:cNvPr id="185" name="Shape 35"/>
          <p:cNvSpPr/>
          <p:nvPr/>
        </p:nvSpPr>
        <p:spPr>
          <a:xfrm>
            <a:off x="7491590" y="6451877"/>
            <a:ext cx="531377" cy="22861"/>
          </a:xfrm>
          <a:prstGeom prst="roundRect">
            <a:avLst>
              <a:gd name="adj" fmla="val 50000"/>
            </a:avLst>
          </a:prstGeom>
          <a:solidFill>
            <a:srgbClr val="3965A7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86" name="Shape 36"/>
          <p:cNvSpPr/>
          <p:nvPr/>
        </p:nvSpPr>
        <p:spPr>
          <a:xfrm>
            <a:off x="7115949" y="6264116"/>
            <a:ext cx="398503" cy="398503"/>
          </a:xfrm>
          <a:prstGeom prst="roundRect">
            <a:avLst>
              <a:gd name="adj" fmla="val 6668"/>
            </a:avLst>
          </a:prstGeom>
          <a:solidFill>
            <a:srgbClr val="204C8E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87" name="Text 37"/>
          <p:cNvSpPr txBox="1"/>
          <p:nvPr/>
        </p:nvSpPr>
        <p:spPr>
          <a:xfrm>
            <a:off x="7238941" y="6288523"/>
            <a:ext cx="152401" cy="2839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lnSpc>
                <a:spcPts val="2200"/>
              </a:lnSpc>
              <a:defRPr sz="22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6</a:t>
            </a:r>
          </a:p>
        </p:txBody>
      </p:sp>
      <p:sp>
        <p:nvSpPr>
          <p:cNvPr id="188" name="Text 38"/>
          <p:cNvSpPr txBox="1"/>
          <p:nvPr/>
        </p:nvSpPr>
        <p:spPr>
          <a:xfrm>
            <a:off x="8200905" y="6324956"/>
            <a:ext cx="2004766" cy="2784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200"/>
              </a:lnSpc>
              <a:defRPr b="1" sz="2000">
                <a:solidFill>
                  <a:srgbClr val="030303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Real-Time Output</a:t>
            </a:r>
          </a:p>
        </p:txBody>
      </p:sp>
      <p:sp>
        <p:nvSpPr>
          <p:cNvPr id="189" name="Text 39"/>
          <p:cNvSpPr txBox="1"/>
          <p:nvPr/>
        </p:nvSpPr>
        <p:spPr>
          <a:xfrm>
            <a:off x="8200905" y="6722506"/>
            <a:ext cx="2686150" cy="24715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marL="342900" indent="-342900">
              <a:lnSpc>
                <a:spcPts val="2000"/>
              </a:lnSpc>
              <a:buSzPct val="100000"/>
              <a:buChar char="•"/>
              <a:defRPr sz="1600">
                <a:solidFill>
                  <a:srgbClr val="030303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Render Snake game window</a:t>
            </a:r>
          </a:p>
        </p:txBody>
      </p:sp>
      <p:sp>
        <p:nvSpPr>
          <p:cNvPr id="190" name="Text 40"/>
          <p:cNvSpPr txBox="1"/>
          <p:nvPr/>
        </p:nvSpPr>
        <p:spPr>
          <a:xfrm>
            <a:off x="8200905" y="7050167"/>
            <a:ext cx="4006256" cy="24715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marL="342900" indent="-342900">
              <a:lnSpc>
                <a:spcPts val="2000"/>
              </a:lnSpc>
              <a:buSzPct val="100000"/>
              <a:buChar char="•"/>
              <a:defRPr sz="1600">
                <a:solidFill>
                  <a:srgbClr val="030303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Display webcam feed with landmark overlay</a:t>
            </a:r>
          </a:p>
        </p:txBody>
      </p:sp>
      <p:sp>
        <p:nvSpPr>
          <p:cNvPr id="191" name="Text 41"/>
          <p:cNvSpPr txBox="1"/>
          <p:nvPr/>
        </p:nvSpPr>
        <p:spPr>
          <a:xfrm>
            <a:off x="8200905" y="7377827"/>
            <a:ext cx="2968725" cy="24715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marL="342900" indent="-342900">
              <a:lnSpc>
                <a:spcPts val="2000"/>
              </a:lnSpc>
              <a:buSzPct val="100000"/>
              <a:buChar char="•"/>
              <a:defRPr sz="1600">
                <a:solidFill>
                  <a:srgbClr val="030303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Continuous gesture control loop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Text 0"/>
          <p:cNvSpPr txBox="1"/>
          <p:nvPr/>
        </p:nvSpPr>
        <p:spPr>
          <a:xfrm>
            <a:off x="758309" y="1016078"/>
            <a:ext cx="4853583" cy="5431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4400"/>
              </a:lnSpc>
              <a:defRPr b="1" sz="3500">
                <a:solidFill>
                  <a:srgbClr val="403CC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Observations and Results</a:t>
            </a:r>
          </a:p>
        </p:txBody>
      </p:sp>
      <p:sp>
        <p:nvSpPr>
          <p:cNvPr id="194" name="Shape 1"/>
          <p:cNvSpPr/>
          <p:nvPr/>
        </p:nvSpPr>
        <p:spPr>
          <a:xfrm>
            <a:off x="758308" y="2019418"/>
            <a:ext cx="6448545" cy="5193984"/>
          </a:xfrm>
          <a:prstGeom prst="roundRect">
            <a:avLst>
              <a:gd name="adj" fmla="val 626"/>
            </a:avLst>
          </a:prstGeom>
          <a:solidFill>
            <a:srgbClr val="EAE8F3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95" name="Text 2"/>
          <p:cNvSpPr txBox="1"/>
          <p:nvPr/>
        </p:nvSpPr>
        <p:spPr>
          <a:xfrm>
            <a:off x="974884" y="2235993"/>
            <a:ext cx="1883941" cy="4067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3300"/>
              </a:lnSpc>
              <a:defRPr b="1" sz="2600">
                <a:solidFill>
                  <a:srgbClr val="030303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Observations</a:t>
            </a:r>
          </a:p>
        </p:txBody>
      </p:sp>
      <p:sp>
        <p:nvSpPr>
          <p:cNvPr id="196" name="Text 3"/>
          <p:cNvSpPr txBox="1"/>
          <p:nvPr/>
        </p:nvSpPr>
        <p:spPr>
          <a:xfrm>
            <a:off x="974883" y="2793444"/>
            <a:ext cx="6015397" cy="6182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marL="342900" indent="-342900">
              <a:lnSpc>
                <a:spcPts val="2500"/>
              </a:lnSpc>
              <a:buSzPct val="100000"/>
              <a:buChar char="•"/>
              <a:defRPr sz="1700">
                <a:solidFill>
                  <a:srgbClr val="030303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MediaPipe’s </a:t>
            </a:r>
            <a:r>
              <a:rPr b="1"/>
              <a:t>CNN-based palm detector</a:t>
            </a:r>
            <a:r>
              <a:t> consistently localized the hand across frames</a:t>
            </a:r>
          </a:p>
        </p:txBody>
      </p:sp>
      <p:sp>
        <p:nvSpPr>
          <p:cNvPr id="197" name="Text 4"/>
          <p:cNvSpPr txBox="1"/>
          <p:nvPr/>
        </p:nvSpPr>
        <p:spPr>
          <a:xfrm>
            <a:off x="974883" y="3519249"/>
            <a:ext cx="6015397" cy="6182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marL="342900" indent="-342900">
              <a:lnSpc>
                <a:spcPts val="2500"/>
              </a:lnSpc>
              <a:buSzPct val="100000"/>
              <a:buChar char="•"/>
              <a:defRPr sz="1700">
                <a:solidFill>
                  <a:srgbClr val="030303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The </a:t>
            </a:r>
            <a:r>
              <a:rPr b="1"/>
              <a:t>21-landmark regression CNN</a:t>
            </a:r>
            <a:r>
              <a:t> predicted keypoints with high spatial stability</a:t>
            </a:r>
          </a:p>
        </p:txBody>
      </p:sp>
      <p:sp>
        <p:nvSpPr>
          <p:cNvPr id="198" name="Text 5"/>
          <p:cNvSpPr txBox="1"/>
          <p:nvPr/>
        </p:nvSpPr>
        <p:spPr>
          <a:xfrm>
            <a:off x="974883" y="4245054"/>
            <a:ext cx="6015397" cy="6182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marL="342900" indent="-342900">
              <a:lnSpc>
                <a:spcPts val="2500"/>
              </a:lnSpc>
              <a:buSzPct val="100000"/>
              <a:buChar char="•"/>
              <a:defRPr sz="1700">
                <a:solidFill>
                  <a:srgbClr val="030303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Index-fingertip (Landmark 8) showed </a:t>
            </a:r>
            <a:r>
              <a:rPr b="1"/>
              <a:t>low variance and high positional consistency</a:t>
            </a:r>
          </a:p>
        </p:txBody>
      </p:sp>
      <p:sp>
        <p:nvSpPr>
          <p:cNvPr id="199" name="Text 6"/>
          <p:cNvSpPr txBox="1"/>
          <p:nvPr/>
        </p:nvSpPr>
        <p:spPr>
          <a:xfrm>
            <a:off x="974883" y="4970858"/>
            <a:ext cx="6015397" cy="6182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marL="342900" indent="-342900">
              <a:lnSpc>
                <a:spcPts val="2500"/>
              </a:lnSpc>
              <a:buSzPct val="100000"/>
              <a:buChar char="•"/>
              <a:defRPr sz="1700">
                <a:solidFill>
                  <a:srgbClr val="030303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Smoothing buffers significantly reduced </a:t>
            </a:r>
            <a:r>
              <a:rPr b="1"/>
              <a:t>model jitter</a:t>
            </a:r>
            <a:r>
              <a:t> from frame-to-frame variations</a:t>
            </a:r>
          </a:p>
        </p:txBody>
      </p:sp>
      <p:sp>
        <p:nvSpPr>
          <p:cNvPr id="200" name="Text 7"/>
          <p:cNvSpPr txBox="1"/>
          <p:nvPr/>
        </p:nvSpPr>
        <p:spPr>
          <a:xfrm>
            <a:off x="974883" y="5696663"/>
            <a:ext cx="6015397" cy="6182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marL="342900" indent="-342900">
              <a:lnSpc>
                <a:spcPts val="2500"/>
              </a:lnSpc>
              <a:buSzPct val="100000"/>
              <a:buChar char="•"/>
              <a:defRPr sz="1700">
                <a:solidFill>
                  <a:srgbClr val="030303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Model maintained inference stability under changes in hand angle and minor occlusions</a:t>
            </a:r>
          </a:p>
        </p:txBody>
      </p:sp>
      <p:sp>
        <p:nvSpPr>
          <p:cNvPr id="201" name="Shape 8"/>
          <p:cNvSpPr/>
          <p:nvPr/>
        </p:nvSpPr>
        <p:spPr>
          <a:xfrm>
            <a:off x="7423428" y="2019418"/>
            <a:ext cx="6448664" cy="5193984"/>
          </a:xfrm>
          <a:prstGeom prst="roundRect">
            <a:avLst>
              <a:gd name="adj" fmla="val 626"/>
            </a:avLst>
          </a:prstGeom>
          <a:solidFill>
            <a:srgbClr val="EAE8F3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02" name="Text 9"/>
          <p:cNvSpPr txBox="1"/>
          <p:nvPr/>
        </p:nvSpPr>
        <p:spPr>
          <a:xfrm>
            <a:off x="7640002" y="2235993"/>
            <a:ext cx="1040062" cy="4067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3300"/>
              </a:lnSpc>
              <a:defRPr b="1" sz="2600">
                <a:solidFill>
                  <a:srgbClr val="030303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Results</a:t>
            </a:r>
          </a:p>
        </p:txBody>
      </p:sp>
      <p:sp>
        <p:nvSpPr>
          <p:cNvPr id="203" name="Text 10"/>
          <p:cNvSpPr txBox="1"/>
          <p:nvPr/>
        </p:nvSpPr>
        <p:spPr>
          <a:xfrm>
            <a:off x="7640002" y="2793444"/>
            <a:ext cx="6015515" cy="6182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marL="342900" indent="-342900">
              <a:lnSpc>
                <a:spcPts val="2500"/>
              </a:lnSpc>
              <a:buSzPct val="100000"/>
              <a:buChar char="•"/>
              <a:defRPr sz="1700">
                <a:solidFill>
                  <a:srgbClr val="030303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Achieved </a:t>
            </a:r>
            <a:r>
              <a:rPr b="1"/>
              <a:t>real-time landmark inference (≈20–30 FPS)</a:t>
            </a:r>
            <a:r>
              <a:t> on CPU due to lightweight CNNs</a:t>
            </a:r>
          </a:p>
        </p:txBody>
      </p:sp>
      <p:sp>
        <p:nvSpPr>
          <p:cNvPr id="204" name="Text 11"/>
          <p:cNvSpPr txBox="1"/>
          <p:nvPr/>
        </p:nvSpPr>
        <p:spPr>
          <a:xfrm>
            <a:off x="7640002" y="3519249"/>
            <a:ext cx="6015515" cy="6182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marL="342900" indent="-342900">
              <a:lnSpc>
                <a:spcPts val="2500"/>
              </a:lnSpc>
              <a:buSzPct val="100000"/>
              <a:buChar char="•"/>
              <a:defRPr sz="1700">
                <a:solidFill>
                  <a:srgbClr val="030303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Generated </a:t>
            </a:r>
            <a:r>
              <a:rPr b="1"/>
              <a:t>precise landmark coordinates</a:t>
            </a:r>
            <a:r>
              <a:t> suitable for motion-based gesture classification</a:t>
            </a:r>
          </a:p>
        </p:txBody>
      </p:sp>
      <p:sp>
        <p:nvSpPr>
          <p:cNvPr id="205" name="Text 12"/>
          <p:cNvSpPr txBox="1"/>
          <p:nvPr/>
        </p:nvSpPr>
        <p:spPr>
          <a:xfrm>
            <a:off x="7640002" y="4245054"/>
            <a:ext cx="6015515" cy="6182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marL="342900" indent="-342900">
              <a:lnSpc>
                <a:spcPts val="2500"/>
              </a:lnSpc>
              <a:buSzPct val="100000"/>
              <a:buChar char="•"/>
              <a:defRPr sz="1700">
                <a:solidFill>
                  <a:srgbClr val="030303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Deep-learning predictions enabled </a:t>
            </a:r>
            <a:r>
              <a:rPr b="1"/>
              <a:t>accurate directional mapping</a:t>
            </a:r>
            <a:r>
              <a:t> with minimal misclassification</a:t>
            </a:r>
          </a:p>
        </p:txBody>
      </p:sp>
      <p:sp>
        <p:nvSpPr>
          <p:cNvPr id="206" name="Text 13"/>
          <p:cNvSpPr txBox="1"/>
          <p:nvPr/>
        </p:nvSpPr>
        <p:spPr>
          <a:xfrm>
            <a:off x="7640002" y="5295899"/>
            <a:ext cx="6015515" cy="6182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marL="342900" indent="-342900">
              <a:lnSpc>
                <a:spcPts val="2500"/>
              </a:lnSpc>
              <a:buSzPct val="100000"/>
              <a:buChar char="•"/>
              <a:defRPr sz="1700">
                <a:solidFill>
                  <a:srgbClr val="030303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CNN landmark outputs remained robust across </a:t>
            </a:r>
            <a:r>
              <a:rPr b="1"/>
              <a:t>lighting and background variations</a:t>
            </a:r>
          </a:p>
        </p:txBody>
      </p:sp>
      <p:sp>
        <p:nvSpPr>
          <p:cNvPr id="207" name="Text 14"/>
          <p:cNvSpPr txBox="1"/>
          <p:nvPr/>
        </p:nvSpPr>
        <p:spPr>
          <a:xfrm>
            <a:off x="7640002" y="6021704"/>
            <a:ext cx="6015515" cy="6182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marL="342900" indent="-342900">
              <a:lnSpc>
                <a:spcPts val="2500"/>
              </a:lnSpc>
              <a:buSzPct val="100000"/>
              <a:buChar char="•"/>
              <a:defRPr sz="1700">
                <a:solidFill>
                  <a:srgbClr val="030303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Demonstrated how deep-learning feature extraction can fully replace traditional vision heuristics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  <a:ln w="12700">
            <a:miter lim="400000"/>
          </a:ln>
        </p:spPr>
      </p:pic>
      <p:sp>
        <p:nvSpPr>
          <p:cNvPr id="210" name="Text 0"/>
          <p:cNvSpPr txBox="1"/>
          <p:nvPr/>
        </p:nvSpPr>
        <p:spPr>
          <a:xfrm>
            <a:off x="758309" y="2036921"/>
            <a:ext cx="2137098" cy="5431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4400"/>
              </a:lnSpc>
              <a:defRPr b="1" sz="3500">
                <a:solidFill>
                  <a:srgbClr val="403CC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Conclusion</a:t>
            </a:r>
          </a:p>
        </p:txBody>
      </p:sp>
      <p:sp>
        <p:nvSpPr>
          <p:cNvPr id="211" name="Shape 1"/>
          <p:cNvSpPr/>
          <p:nvPr/>
        </p:nvSpPr>
        <p:spPr>
          <a:xfrm>
            <a:off x="758308" y="2931914"/>
            <a:ext cx="7627383" cy="3260646"/>
          </a:xfrm>
          <a:prstGeom prst="roundRect">
            <a:avLst>
              <a:gd name="adj" fmla="val 997"/>
            </a:avLst>
          </a:prstGeom>
          <a:solidFill>
            <a:srgbClr val="EAE8F3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12" name="Text 2"/>
          <p:cNvSpPr txBox="1"/>
          <p:nvPr/>
        </p:nvSpPr>
        <p:spPr>
          <a:xfrm>
            <a:off x="974884" y="3148489"/>
            <a:ext cx="7194233" cy="6182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marL="342900" indent="-342900">
              <a:lnSpc>
                <a:spcPts val="2500"/>
              </a:lnSpc>
              <a:buSzPct val="100000"/>
              <a:buChar char="•"/>
              <a:defRPr sz="1700">
                <a:solidFill>
                  <a:srgbClr val="030303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MediaPipe’s </a:t>
            </a:r>
            <a:r>
              <a:rPr b="1"/>
              <a:t>dual-CNN model</a:t>
            </a:r>
            <a:r>
              <a:t> accurately detected 21 hand landmarks in real time.</a:t>
            </a:r>
          </a:p>
        </p:txBody>
      </p:sp>
      <p:sp>
        <p:nvSpPr>
          <p:cNvPr id="213" name="Text 3"/>
          <p:cNvSpPr txBox="1"/>
          <p:nvPr/>
        </p:nvSpPr>
        <p:spPr>
          <a:xfrm>
            <a:off x="974884" y="3874294"/>
            <a:ext cx="7194233" cy="6182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marL="342900" indent="-342900">
              <a:lnSpc>
                <a:spcPts val="2500"/>
              </a:lnSpc>
              <a:buSzPct val="100000"/>
              <a:buChar char="•"/>
              <a:defRPr sz="1700">
                <a:solidFill>
                  <a:srgbClr val="030303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The </a:t>
            </a:r>
            <a:r>
              <a:rPr b="1"/>
              <a:t>index-fingertip landmark</a:t>
            </a:r>
            <a:r>
              <a:t> provided reliable, stable directional gestures after smoothing.</a:t>
            </a:r>
          </a:p>
        </p:txBody>
      </p:sp>
      <p:sp>
        <p:nvSpPr>
          <p:cNvPr id="214" name="Text 4"/>
          <p:cNvSpPr txBox="1"/>
          <p:nvPr/>
        </p:nvSpPr>
        <p:spPr>
          <a:xfrm>
            <a:off x="974884" y="4600099"/>
            <a:ext cx="7194233" cy="6182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marL="342900" indent="-342900">
              <a:lnSpc>
                <a:spcPts val="2500"/>
              </a:lnSpc>
              <a:buSzPct val="100000"/>
              <a:buChar char="•"/>
              <a:defRPr sz="1700">
                <a:solidFill>
                  <a:srgbClr val="030303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The system achieved </a:t>
            </a:r>
            <a:r>
              <a:rPr b="1"/>
              <a:t>real-time CPU performance</a:t>
            </a:r>
            <a:r>
              <a:t>, enabling seamless gesture-based control.</a:t>
            </a:r>
          </a:p>
        </p:txBody>
      </p:sp>
      <p:sp>
        <p:nvSpPr>
          <p:cNvPr id="215" name="Text 5"/>
          <p:cNvSpPr txBox="1"/>
          <p:nvPr/>
        </p:nvSpPr>
        <p:spPr>
          <a:xfrm>
            <a:off x="974884" y="5325903"/>
            <a:ext cx="7194233" cy="6182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marL="342900" indent="-342900">
              <a:lnSpc>
                <a:spcPts val="2500"/>
              </a:lnSpc>
              <a:buSzPct val="100000"/>
              <a:buChar char="•"/>
              <a:defRPr sz="1700">
                <a:solidFill>
                  <a:srgbClr val="030303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Demonstrates that </a:t>
            </a:r>
            <a:r>
              <a:rPr b="1"/>
              <a:t>deep-learning landmark detection can effectively drive touchless game interaction</a:t>
            </a:r>
            <a:r>
              <a:t>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000000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